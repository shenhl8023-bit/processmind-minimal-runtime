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6e9833c83a4be1" /><Relationship Type="http://schemas.openxmlformats.org/officeDocument/2006/relationships/extended-properties" Target="/docProps/app.xml" Id="R525257162b214c3d" /><Relationship Type="http://schemas.openxmlformats.org/officeDocument/2006/relationships/officeDocument" Target="/ppt/presentation.xml" Id="R95b4dd7c057149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38705b419e4e18"/>
  </p:sldMasterIdLst>
  <p:notesMasterIdLst>
    <p:notesMasterId xmlns:r="http://schemas.openxmlformats.org/officeDocument/2006/relationships" r:id="R9de68ae60cd34ed9"/>
  </p:notesMasterIdLst>
  <p:sldIdLst>
    <p:sldId xmlns:r="http://schemas.openxmlformats.org/officeDocument/2006/relationships" id="256" r:id="Rfdaa8ea2e99f4c09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258f88655b464a" /><Relationship Type="http://schemas.openxmlformats.org/officeDocument/2006/relationships/slideMaster" Target="/ppt/slideMasters/slideMaster1.xml" Id="R5138705b419e4e18" /><Relationship Type="http://schemas.openxmlformats.org/officeDocument/2006/relationships/notesMaster" Target="/ppt/notesMasters/notesMaster1.xml" Id="R9de68ae60cd34ed9" /><Relationship Type="http://schemas.openxmlformats.org/officeDocument/2006/relationships/presProps" Target="/ppt/presProps.xml" Id="R6f42b57a33e64084" /><Relationship Type="http://schemas.openxmlformats.org/officeDocument/2006/relationships/tableStyles" Target="/ppt/tableStyles.xml" Id="R3421e738c3494448" /><Relationship Type="http://schemas.openxmlformats.org/officeDocument/2006/relationships/slide" Target="/ppt/slides/slide1.xml" Id="Rfdaa8ea2e99f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3edf6f66e44d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83e9be5a0146eb" /><Relationship Type="http://schemas.openxmlformats.org/officeDocument/2006/relationships/notesMaster" Target="/ppt/notesMasters/notesMaster1.xml" Id="R8380209bc793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89504c5374c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0dc77ef4544112" /><Relationship Type="http://schemas.openxmlformats.org/officeDocument/2006/relationships/slideLayout" Target="/ppt/slideLayouts/slideLayout1.xml" Id="R0690cc738aa342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0cc738aa342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649753c944076" /><Relationship Type="http://schemas.openxmlformats.org/officeDocument/2006/relationships/notesSlide" Target="/ppt/notesSlides/notesSlide1.xml" Id="Reaecafa285fc47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711A38-BC20-492E-AF79-4A1B0F9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"/>
            <a:ext cx="62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A95"/>
          </a:solidFill>
          <a:ln xmlns:a="http://schemas.openxmlformats.org/drawingml/2006/main" w="0">
            <a:solidFill>
              <a:srgbClr val="0B4A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C9741-23E7-4F92-9AFF-2ADF8F30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047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B18"/>
          </a:solidFill>
          <a:ln xmlns:a="http://schemas.openxmlformats.org/drawingml/2006/main" w="0">
            <a:solidFill>
              <a:srgbClr val="F4CB1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E2340-CDE2-43D6-8593-1D1E63A4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4A95"/>
                </a:solidFill>
              </a:defRPr>
            </a:pPr>
            <a:r>
              <a:rPr sz="3750" b="1">
                <a:solidFill>
                  <a:srgbClr val="0B4A95"/>
                </a:solidFill>
              </a:rPr>
              <a:t>AI工艺生成智能体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4DBD2-6938-434A-984F-295BAB7C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810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C"/>
                </a:solidFill>
              </a:defRPr>
            </a:pPr>
            <a:r>
              <a:rPr sz="1650" b="0">
                <a:solidFill>
                  <a:srgbClr val="66717C"/>
                </a:solidFill>
              </a:rPr>
              <a:t>从 MPS 导入三维零件到可校核工艺方案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4D179-3987-40A3-9F98-102EF31F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09575"/>
            <a:ext cx="100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4A95"/>
                </a:solidFill>
              </a:defRPr>
            </a:pPr>
            <a:r>
              <a:rPr sz="2325" b="1">
                <a:solidFill>
                  <a:srgbClr val="0B4A95"/>
                </a:solidFill>
              </a:rPr>
              <a:t>MPS</a:t>
            </a:r>
          </a:p>
        </p:txBody>
      </p:sp>
      <p:sp>
        <p:nvSpPr>
          <p:cNvPr id="6" name="mps-import">
            <a:extLst xmlns:a="http://schemas.openxmlformats.org/drawingml/2006/main">
              <a:ext uri="{FF2B5EF4-FFF2-40B4-BE49-F238E27FC236}">
                <a16:creationId xmlns:a16="http://schemas.microsoft.com/office/drawing/2014/main" id="{CF169F58-EE73-4D8F-A5DF-EEF43BB7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6002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B4A95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MPS 导入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三维零件</a:t>
            </a:r>
          </a:p>
        </p:txBody>
      </p:sp>
      <p:sp>
        <p:nvSpPr>
          <p:cNvPr id="7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B826CABA-0512-44FF-ADFC-C2A36F78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76400"/>
            <a:ext cx="19812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0A651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AI 工艺生成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主控智能体</a:t>
            </a:r>
          </a:p>
        </p:txBody>
      </p:sp>
      <p:sp>
        <p:nvSpPr>
          <p:cNvPr id="8" name="orchestration-note">
            <a:extLst xmlns:a="http://schemas.openxmlformats.org/drawingml/2006/main">
              <a:ext uri="{FF2B5EF4-FFF2-40B4-BE49-F238E27FC236}">
                <a16:creationId xmlns:a16="http://schemas.microsoft.com/office/drawing/2014/main" id="{371D7E41-AE85-4AB3-8153-0AEE4D75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3657600" cy="1009650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303B"/>
                </a:solidFill>
              </a:defRPr>
            </a:pPr>
            <a:r>
              <a:rPr sz="1425" b="0">
                <a:solidFill>
                  <a:srgbClr val="25303B"/>
                </a:solidFill>
              </a:rPr>
              <a:t>统一编排：零件分类、模板匹配、</a:t>
            </a:r>
          </a:p>
          <a:p xmlns:a="http://schemas.openxmlformats.org/drawingml/2006/main">
            <a:pPr algn="ctr">
              <a:defRPr sz="1425" b="0">
                <a:solidFill>
                  <a:srgbClr val="25303B"/>
                </a:solidFill>
              </a:defRPr>
            </a:pPr>
            <a:r>
              <a:rPr sz="1425" b="0">
                <a:solidFill>
                  <a:srgbClr val="25303B"/>
                </a:solidFill>
              </a:rPr>
              <a:t>工艺路线生成与工序内容生成</a:t>
            </a:r>
          </a:p>
        </p:txBody>
      </p:sp>
      <p:sp>
        <p:nvSpPr>
          <p:cNvPr id="9" name="part-classification-agent">
            <a:extLst xmlns:a="http://schemas.openxmlformats.org/drawingml/2006/main">
              <a:ext uri="{FF2B5EF4-FFF2-40B4-BE49-F238E27FC236}">
                <a16:creationId xmlns:a16="http://schemas.microsoft.com/office/drawing/2014/main" id="{7D529D25-72F2-433E-9BDF-BCFFB64A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05175"/>
            <a:ext cx="321945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00A651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零件分类智能体</a:t>
            </a:r>
          </a:p>
        </p:txBody>
      </p:sp>
      <p:sp>
        <p:nvSpPr>
          <p:cNvPr id="10" name="brep-parse">
            <a:extLst xmlns:a="http://schemas.openxmlformats.org/drawingml/2006/main">
              <a:ext uri="{FF2B5EF4-FFF2-40B4-BE49-F238E27FC236}">
                <a16:creationId xmlns:a16="http://schemas.microsoft.com/office/drawing/2014/main" id="{408CDB61-15EB-4E24-A6D6-ADADC8FA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38600"/>
            <a:ext cx="714375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03B"/>
                </a:solidFill>
              </a:defRPr>
            </a:pPr>
            <a:r>
              <a:rPr sz="1200" b="1">
                <a:solidFill>
                  <a:srgbClr val="25303B"/>
                </a:solidFill>
              </a:rPr>
              <a:t>BREP</a:t>
            </a:r>
          </a:p>
          <a:p xmlns:a="http://schemas.openxmlformats.org/drawingml/2006/main">
            <a:pPr algn="ctr">
              <a:defRPr sz="1200" b="1">
                <a:solidFill>
                  <a:srgbClr val="25303B"/>
                </a:solidFill>
              </a:defRPr>
            </a:pPr>
            <a:r>
              <a:rPr sz="1200" b="1">
                <a:solidFill>
                  <a:srgbClr val="25303B"/>
                </a:solidFill>
              </a:rPr>
              <a:t>解析</a:t>
            </a:r>
          </a:p>
        </p:txBody>
      </p:sp>
      <p:sp>
        <p:nvSpPr>
          <p:cNvPr id="11" name="heterogeneous-graph">
            <a:extLst xmlns:a="http://schemas.openxmlformats.org/drawingml/2006/main">
              <a:ext uri="{FF2B5EF4-FFF2-40B4-BE49-F238E27FC236}">
                <a16:creationId xmlns:a16="http://schemas.microsoft.com/office/drawing/2014/main" id="{02CDD22C-0E84-4CF3-9175-596AA20B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38600"/>
            <a:ext cx="714375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03B"/>
                </a:solidFill>
              </a:defRPr>
            </a:pPr>
            <a:r>
              <a:rPr sz="1200" b="1">
                <a:solidFill>
                  <a:srgbClr val="25303B"/>
                </a:solidFill>
              </a:rPr>
              <a:t>异构图</a:t>
            </a:r>
          </a:p>
          <a:p xmlns:a="http://schemas.openxmlformats.org/drawingml/2006/main">
            <a:pPr algn="ctr">
              <a:defRPr sz="1200" b="1">
                <a:solidFill>
                  <a:srgbClr val="25303B"/>
                </a:solidFill>
              </a:defRPr>
            </a:pPr>
            <a:r>
              <a:rPr sz="1200" b="1">
                <a:solidFill>
                  <a:srgbClr val="25303B"/>
                </a:solidFill>
              </a:rPr>
              <a:t>构建</a:t>
            </a:r>
          </a:p>
        </p:txBody>
      </p:sp>
      <p:sp>
        <p:nvSpPr>
          <p:cNvPr id="12" name="gnn-vector">
            <a:extLst xmlns:a="http://schemas.openxmlformats.org/drawingml/2006/main">
              <a:ext uri="{FF2B5EF4-FFF2-40B4-BE49-F238E27FC236}">
                <a16:creationId xmlns:a16="http://schemas.microsoft.com/office/drawing/2014/main" id="{873996BD-DDE1-42C6-A7B4-21F3F978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38600"/>
            <a:ext cx="714375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303B"/>
                </a:solidFill>
              </a:defRPr>
            </a:pPr>
            <a:r>
              <a:rPr sz="1200" b="1">
                <a:solidFill>
                  <a:srgbClr val="25303B"/>
                </a:solidFill>
              </a:rPr>
              <a:t>GNN</a:t>
            </a:r>
          </a:p>
          <a:p xmlns:a="http://schemas.openxmlformats.org/drawingml/2006/main">
            <a:pPr algn="ctr">
              <a:defRPr sz="1200" b="1">
                <a:solidFill>
                  <a:srgbClr val="25303B"/>
                </a:solidFill>
              </a:defRPr>
            </a:pPr>
            <a:r>
              <a:rPr sz="1200" b="1">
                <a:solidFill>
                  <a:srgbClr val="25303B"/>
                </a:solidFill>
              </a:rPr>
              <a:t>向量化</a:t>
            </a:r>
          </a:p>
        </p:txBody>
      </p:sp>
      <p:sp>
        <p:nvSpPr>
          <p:cNvPr id="13" name="milvus-top-1">
            <a:extLst xmlns:a="http://schemas.openxmlformats.org/drawingml/2006/main">
              <a:ext uri="{FF2B5EF4-FFF2-40B4-BE49-F238E27FC236}">
                <a16:creationId xmlns:a16="http://schemas.microsoft.com/office/drawing/2014/main" id="{59421B68-9160-48EE-B502-0C649573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38600"/>
            <a:ext cx="742950" cy="657225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303B"/>
                </a:solidFill>
              </a:defRPr>
            </a:pPr>
            <a:r>
              <a:rPr sz="975" b="1">
                <a:solidFill>
                  <a:srgbClr val="25303B"/>
                </a:solidFill>
              </a:rPr>
              <a:t>Milvus</a:t>
            </a:r>
          </a:p>
          <a:p xmlns:a="http://schemas.openxmlformats.org/drawingml/2006/main">
            <a:pPr algn="ctr">
              <a:defRPr sz="975" b="1">
                <a:solidFill>
                  <a:srgbClr val="25303B"/>
                </a:solidFill>
              </a:defRPr>
            </a:pPr>
            <a:r>
              <a:rPr sz="975" b="1">
                <a:solidFill>
                  <a:srgbClr val="25303B"/>
                </a:solidFill>
              </a:rPr>
              <a:t>检索</a:t>
            </a:r>
          </a:p>
        </p:txBody>
      </p:sp>
      <p:sp>
        <p:nvSpPr>
          <p:cNvPr id="14" name="route-generation-agent">
            <a:extLst xmlns:a="http://schemas.openxmlformats.org/drawingml/2006/main">
              <a:ext uri="{FF2B5EF4-FFF2-40B4-BE49-F238E27FC236}">
                <a16:creationId xmlns:a16="http://schemas.microsoft.com/office/drawing/2014/main" id="{0EA55CC1-A3D4-4CE1-BE4C-080FC858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05175"/>
            <a:ext cx="354330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00A651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工艺生成智能体</a:t>
            </a:r>
          </a:p>
        </p:txBody>
      </p:sp>
      <p:sp>
        <p:nvSpPr>
          <p:cNvPr id="15" name="attribute-extraction">
            <a:extLst xmlns:a="http://schemas.openxmlformats.org/drawingml/2006/main">
              <a:ext uri="{FF2B5EF4-FFF2-40B4-BE49-F238E27FC236}">
                <a16:creationId xmlns:a16="http://schemas.microsoft.com/office/drawing/2014/main" id="{C9316B82-9CD0-4908-8936-2F35BDA6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00500"/>
            <a:ext cx="1381125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303B"/>
                </a:solidFill>
              </a:defRPr>
            </a:pPr>
            <a:r>
              <a:rPr sz="1125" b="1">
                <a:solidFill>
                  <a:srgbClr val="25303B"/>
                </a:solidFill>
              </a:rPr>
              <a:t>工艺属性提取</a:t>
            </a:r>
          </a:p>
          <a:p xmlns:a="http://schemas.openxmlformats.org/drawingml/2006/main">
            <a:pPr algn="ctr">
              <a:defRPr sz="1125" b="1">
                <a:solidFill>
                  <a:srgbClr val="25303B"/>
                </a:solidFill>
              </a:defRPr>
            </a:pPr>
            <a:r>
              <a:rPr sz="1125" b="1">
                <a:solidFill>
                  <a:srgbClr val="25303B"/>
                </a:solidFill>
              </a:rPr>
              <a:t>特征 / 精度 / 材料</a:t>
            </a:r>
          </a:p>
          <a:p xmlns:a="http://schemas.openxmlformats.org/drawingml/2006/main">
            <a:pPr algn="ctr">
              <a:defRPr sz="1125" b="1">
                <a:solidFill>
                  <a:srgbClr val="25303B"/>
                </a:solidFill>
              </a:defRPr>
            </a:pPr>
            <a:r>
              <a:rPr sz="1125" b="1">
                <a:solidFill>
                  <a:srgbClr val="25303B"/>
                </a:solidFill>
              </a:rPr>
              <a:t>热处理 / 表面处理</a:t>
            </a:r>
          </a:p>
        </p:txBody>
      </p:sp>
      <p:sp>
        <p:nvSpPr>
          <p:cNvPr id="16" name="route-create">
            <a:extLst xmlns:a="http://schemas.openxmlformats.org/drawingml/2006/main">
              <a:ext uri="{FF2B5EF4-FFF2-40B4-BE49-F238E27FC236}">
                <a16:creationId xmlns:a16="http://schemas.microsoft.com/office/drawing/2014/main" id="{09B9D25D-910A-4AFF-95E3-FE17ECD4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57650"/>
            <a:ext cx="15621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303B"/>
                </a:solidFill>
              </a:defRPr>
            </a:pPr>
            <a:r>
              <a:rPr sz="1275" b="1">
                <a:solidFill>
                  <a:srgbClr val="25303B"/>
                </a:solidFill>
              </a:rPr>
              <a:t>基于模板与属性</a:t>
            </a:r>
          </a:p>
          <a:p xmlns:a="http://schemas.openxmlformats.org/drawingml/2006/main">
            <a:pPr algn="ctr">
              <a:defRPr sz="1275" b="1">
                <a:solidFill>
                  <a:srgbClr val="25303B"/>
                </a:solidFill>
              </a:defRPr>
            </a:pPr>
            <a:r>
              <a:rPr sz="1275" b="1">
                <a:solidFill>
                  <a:srgbClr val="25303B"/>
                </a:solidFill>
              </a:rPr>
              <a:t>生成工艺路线</a:t>
            </a:r>
          </a:p>
        </p:txBody>
      </p:sp>
      <p:sp>
        <p:nvSpPr>
          <p:cNvPr id="17" name="content-generation-agent">
            <a:extLst xmlns:a="http://schemas.openxmlformats.org/drawingml/2006/main">
              <a:ext uri="{FF2B5EF4-FFF2-40B4-BE49-F238E27FC236}">
                <a16:creationId xmlns:a16="http://schemas.microsoft.com/office/drawing/2014/main" id="{56916735-6C76-415A-8732-85ECFF0C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05175"/>
            <a:ext cx="249555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00A651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工序内容生成智能体</a:t>
            </a:r>
          </a:p>
        </p:txBody>
      </p:sp>
      <p:sp>
        <p:nvSpPr>
          <p:cNvPr id="18" name="process-content">
            <a:extLst xmlns:a="http://schemas.openxmlformats.org/drawingml/2006/main">
              <a:ext uri="{FF2B5EF4-FFF2-40B4-BE49-F238E27FC236}">
                <a16:creationId xmlns:a16="http://schemas.microsoft.com/office/drawing/2014/main" id="{38354B56-31B3-4EBD-9A47-0B99863B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20383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B"/>
                </a:solidFill>
              </a:defRPr>
            </a:pPr>
            <a:r>
              <a:rPr sz="1350" b="1">
                <a:solidFill>
                  <a:srgbClr val="25303B"/>
                </a:solidFill>
              </a:rPr>
              <a:t>逐工序生成</a:t>
            </a:r>
          </a:p>
          <a:p xmlns:a="http://schemas.openxmlformats.org/drawingml/2006/main">
            <a:pPr algn="ctr">
              <a:defRPr sz="1350" b="1">
                <a:solidFill>
                  <a:srgbClr val="25303B"/>
                </a:solidFill>
              </a:defRPr>
            </a:pPr>
            <a:r>
              <a:rPr sz="1350" b="1">
                <a:solidFill>
                  <a:srgbClr val="25303B"/>
                </a:solidFill>
              </a:rPr>
              <a:t>工序内容与技术要求</a:t>
            </a:r>
          </a:p>
        </p:txBody>
      </p:sp>
      <p:sp>
        <p:nvSpPr>
          <p:cNvPr id="19" name="engineer-review">
            <a:extLst xmlns:a="http://schemas.openxmlformats.org/drawingml/2006/main">
              <a:ext uri="{FF2B5EF4-FFF2-40B4-BE49-F238E27FC236}">
                <a16:creationId xmlns:a16="http://schemas.microsoft.com/office/drawing/2014/main" id="{ACAE095F-E69F-48A1-9E09-CE757CBA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467350"/>
            <a:ext cx="1714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4A95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工艺工程师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校核与确认</a:t>
            </a:r>
          </a:p>
        </p:txBody>
      </p:sp>
      <p:sp>
        <p:nvSpPr>
          <p:cNvPr id="20" name="mps-writeback">
            <a:extLst xmlns:a="http://schemas.openxmlformats.org/drawingml/2006/main">
              <a:ext uri="{FF2B5EF4-FFF2-40B4-BE49-F238E27FC236}">
                <a16:creationId xmlns:a16="http://schemas.microsoft.com/office/drawing/2014/main" id="{3406C4A2-FDE7-480A-AE2D-914439C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467350"/>
            <a:ext cx="161925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4A95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工艺方案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回写 MPS</a:t>
            </a:r>
          </a:p>
        </p:txBody>
      </p:sp>
      <p:sp>
        <p:nvSpPr>
          <p:cNvPr id="21" name="data-layer">
            <a:extLst xmlns:a="http://schemas.openxmlformats.org/drawingml/2006/main">
              <a:ext uri="{FF2B5EF4-FFF2-40B4-BE49-F238E27FC236}">
                <a16:creationId xmlns:a16="http://schemas.microsoft.com/office/drawing/2014/main" id="{38CDC1F6-7D30-4D12-8807-9E339BAC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515100"/>
            <a:ext cx="12896850" cy="1581150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6E1B2-BDC1-47EF-9EBC-7BA2E2A6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1151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303B"/>
                </a:solidFill>
              </a:defRPr>
            </a:pPr>
            <a:r>
              <a:rPr sz="2100" b="1">
                <a:solidFill>
                  <a:srgbClr val="25303B"/>
                </a:solidFill>
              </a:rPr>
              <a:t>数据层</a:t>
            </a:r>
          </a:p>
        </p:txBody>
      </p:sp>
      <p:sp>
        <p:nvSpPr>
          <p:cNvPr id="23" name="historical-processes">
            <a:extLst xmlns:a="http://schemas.openxmlformats.org/drawingml/2006/main">
              <a:ext uri="{FF2B5EF4-FFF2-40B4-BE49-F238E27FC236}">
                <a16:creationId xmlns:a16="http://schemas.microsoft.com/office/drawing/2014/main" id="{1E9867E9-AD96-40BE-A1AB-4B919A7E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915150"/>
            <a:ext cx="1714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C89C00"/>
          </a:solidFill>
          <a:ln xmlns:a="http://schemas.openxmlformats.org/drawingml/2006/main" w="14288">
            <a:solidFill>
              <a:srgbClr val="9473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典型零件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历史工艺方案</a:t>
            </a:r>
          </a:p>
        </p:txBody>
      </p:sp>
      <p:sp>
        <p:nvSpPr>
          <p:cNvPr id="24" name="processmind-template-agent">
            <a:extLst xmlns:a="http://schemas.openxmlformats.org/drawingml/2006/main">
              <a:ext uri="{FF2B5EF4-FFF2-40B4-BE49-F238E27FC236}">
                <a16:creationId xmlns:a16="http://schemas.microsoft.com/office/drawing/2014/main" id="{3C2AFA9D-A12C-4ABC-9F6A-662B9B1F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838950"/>
            <a:ext cx="2095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0A651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ProcessMind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工艺模板智能体</a:t>
            </a:r>
          </a:p>
        </p:txBody>
      </p:sp>
      <p:sp>
        <p:nvSpPr>
          <p:cNvPr id="25" name="template-library">
            <a:extLst xmlns:a="http://schemas.openxmlformats.org/drawingml/2006/main">
              <a:ext uri="{FF2B5EF4-FFF2-40B4-BE49-F238E27FC236}">
                <a16:creationId xmlns:a16="http://schemas.microsoft.com/office/drawing/2014/main" id="{5A31346C-D313-4596-8918-C2AC3DD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915150"/>
            <a:ext cx="18097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C89C00"/>
          </a:solidFill>
          <a:ln xmlns:a="http://schemas.openxmlformats.org/drawingml/2006/main" w="14288">
            <a:solidFill>
              <a:srgbClr val="9473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工艺模板库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规则包</a:t>
            </a:r>
          </a:p>
        </p:txBody>
      </p:sp>
      <p:sp>
        <p:nvSpPr>
          <p:cNvPr id="26" name="vector-library">
            <a:extLst xmlns:a="http://schemas.openxmlformats.org/drawingml/2006/main">
              <a:ext uri="{FF2B5EF4-FFF2-40B4-BE49-F238E27FC236}">
                <a16:creationId xmlns:a16="http://schemas.microsoft.com/office/drawing/2014/main" id="{107B7B1C-620E-4CD7-A979-948DA380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15150"/>
            <a:ext cx="18097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C89C00"/>
          </a:solidFill>
          <a:ln xmlns:a="http://schemas.openxmlformats.org/drawingml/2006/main" w="14288">
            <a:solidFill>
              <a:srgbClr val="9473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零件分类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向量库</a:t>
            </a:r>
          </a:p>
        </p:txBody>
      </p:sp>
      <p:cxnSp>
        <p:nvCxnSpPr>
          <p:cNvPr id="7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00250" y="20955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486150" y="2514600"/>
            <a:ext cx="123825" cy="7905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57500" y="4367213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619500" y="4367213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381500" y="4367213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219700" y="41243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80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343775" y="43529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315450" y="41243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1115675" y="4943475"/>
            <a:ext cx="352425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2325350" y="58102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429250" y="72771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01000" y="72771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25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H="1" flipV="1">
            <a:off x="7543800" y="4943475"/>
            <a:ext cx="2314575" cy="1971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cxnSp>
        <p:nvCxnSpPr>
          <p:cNvPr id="87" name=""/>
          <p:cNvCxnSpPr>
            <a:stCxn xmlns:a="http://schemas.openxmlformats.org/drawingml/2006/main" id="26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3609975" y="4943475"/>
            <a:ext cx="9296400" cy="1971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4A95"/>
            </a:solidFill>
            <a:prstDash val="solid"/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8553A6-ACDA-49AC-80AA-0E4C53C1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054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A95"/>
                </a:solidFill>
              </a:defRPr>
            </a:pPr>
            <a:r>
              <a:rPr sz="1125" b="1">
                <a:solidFill>
                  <a:srgbClr val="0B4A95"/>
                </a:solidFill>
              </a:rPr>
              <a:t>Top-1 典型零件类别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1E464E-2B26-44D2-A2ED-ABA5A583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191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A95"/>
                </a:solidFill>
              </a:defRPr>
            </a:pPr>
            <a:r>
              <a:rPr sz="1125" b="1">
                <a:solidFill>
                  <a:srgbClr val="0B4A95"/>
                </a:solidFill>
              </a:rPr>
              <a:t>匹配工艺模板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67B032-1EBE-4EC8-8B5C-FF10ACA0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77819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A95"/>
                </a:solidFill>
              </a:defRPr>
            </a:pPr>
            <a:r>
              <a:rPr sz="1125" b="1">
                <a:solidFill>
                  <a:srgbClr val="0B4A95"/>
                </a:solidFill>
              </a:rPr>
              <a:t>构建与沉淀</a:t>
            </a:r>
          </a:p>
        </p:txBody>
      </p:sp>
      <p:sp>
        <p:nvSpPr>
          <p:cNvPr id="44" name="legend-agent">
            <a:extLst xmlns:a="http://schemas.openxmlformats.org/drawingml/2006/main">
              <a:ext uri="{FF2B5EF4-FFF2-40B4-BE49-F238E27FC236}">
                <a16:creationId xmlns:a16="http://schemas.microsoft.com/office/drawing/2014/main" id="{5D3D6665-C4C7-46FC-94A7-65C7E101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47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51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智能体</a:t>
            </a:r>
          </a:p>
        </p:txBody>
      </p:sp>
      <p:sp>
        <p:nvSpPr>
          <p:cNvPr id="45" name="legend-skill">
            <a:extLst xmlns:a="http://schemas.openxmlformats.org/drawingml/2006/main">
              <a:ext uri="{FF2B5EF4-FFF2-40B4-BE49-F238E27FC236}">
                <a16:creationId xmlns:a16="http://schemas.microsoft.com/office/drawing/2014/main" id="{1F8F6526-2DCF-4150-A248-DDB86359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962775"/>
            <a:ext cx="1047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B95E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技能</a:t>
            </a:r>
          </a:p>
        </p:txBody>
      </p:sp>
      <p:sp>
        <p:nvSpPr>
          <p:cNvPr id="46" name="legend-function">
            <a:extLst xmlns:a="http://schemas.openxmlformats.org/drawingml/2006/main">
              <a:ext uri="{FF2B5EF4-FFF2-40B4-BE49-F238E27FC236}">
                <a16:creationId xmlns:a16="http://schemas.microsoft.com/office/drawing/2014/main" id="{A92CD754-A1AD-4504-A407-FEC9E09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0"/>
            <a:ext cx="1047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4A95"/>
          </a:solidFill>
          <a:ln xmlns:a="http://schemas.openxmlformats.org/drawingml/2006/main" w="14288">
            <a:solidFill>
              <a:srgbClr val="072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47" name="legend-data">
            <a:extLst xmlns:a="http://schemas.openxmlformats.org/drawingml/2006/main">
              <a:ext uri="{FF2B5EF4-FFF2-40B4-BE49-F238E27FC236}">
                <a16:creationId xmlns:a16="http://schemas.microsoft.com/office/drawing/2014/main" id="{1C009299-B1AA-415A-B0BF-19644488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705725"/>
            <a:ext cx="10477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9C00"/>
          </a:solidFill>
          <a:ln xmlns:a="http://schemas.openxmlformats.org/drawingml/2006/main" w="14288">
            <a:solidFill>
              <a:srgbClr val="9473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1879615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2026-07-23T07:49:58.1220000Z</dcterms:created>
  <dcterms:modified xsi:type="dcterms:W3CDTF">2026-07-23T07:49:58.1220000Z</dcterms:modified>
</coreProperties>
</file>